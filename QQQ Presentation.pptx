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gUZ4iZGozrq35Sm93hIwTzQ1o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699EBB-BE92-4DA2-8275-5C63B3D51C1A}">
  <a:tblStyle styleId="{AA699EBB-BE92-4DA2-8275-5C63B3D51C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Our strategy had big wins in late 2025 (over 20% some months!) - But also had painful losses in 2023 (some months down 20%) - Overall: mixed results - some great months, some rough months</a:t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>
                <a:solidFill>
                  <a:srgbClr val="383A42"/>
                </a:solidFill>
              </a:rPr>
              <a:t>- This shows both parts of our strategy were unpredictable</a:t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long/short approach struggled during this rising market</a:t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higher risk, worse returns - the worst combination</a:t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b9de6aa0f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b9de6aa0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we tested 3 different approaches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insight: Long-only momentum actually BEAT the market.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b9de6aa0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b9de6aa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b9de6aa0f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b9de6aa0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This shows the exact numbers for all three strategies compared to QQQ</a:t>
            </a:r>
            <a:b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Our original lost 64% and crashed 73% at its worst. Strategy A made 121%, beat QQQ, and only dropped 31% max. Its risk score of 0.90 is basically as good as QQQ's 0.91. Strategy B made 30% but was super volatile. Bottom line: Strategy A won on every measure with better returns, lower risk, smaller crashes.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7b2309401_0_10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a7b2309401_0_10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g3a7b2309401_0_10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a7b2309401_0_10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g3a7b2309401_0_106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g3a7b2309401_0_106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g3a7b2309401_0_10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g3a7b2309401_0_11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g3a7b2309401_0_1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g3a7b2309401_0_1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g3a7b2309401_0_114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g3a7b2309401_0_11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7b2309401_0_120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g3a7b2309401_0_120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g3a7b2309401_0_1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a7b2309401_0_1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g3a7b2309401_0_120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g3a7b2309401_0_120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a7b2309401_0_12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7b2309401_0_128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g3a7b2309401_0_12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g3a7b2309401_0_1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a7b2309401_0_1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3a7b2309401_0_128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g3a7b2309401_0_128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g3a7b2309401_0_128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g3a7b2309401_0_12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a7b2309401_0_13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g3a7b2309401_0_13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g3a7b2309401_0_1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a7b2309401_0_1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a7b2309401_0_137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g3a7b2309401_0_13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7b2309401_0_14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g3a7b2309401_0_14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g3a7b2309401_0_14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a7b2309401_0_1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a7b2309401_0_144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g3a7b2309401_0_144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g3a7b2309401_0_14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g3a7b2309401_0_152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g3a7b2309401_0_1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3a7b2309401_0_1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g3a7b2309401_0_152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g3a7b2309401_0_15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7b2309401_0_158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g3a7b2309401_0_158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g3a7b2309401_0_15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a7b2309401_0_15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a7b2309401_0_158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g3a7b2309401_0_158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g3a7b2309401_0_158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g3a7b2309401_0_15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7b2309401_0_167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g3a7b2309401_0_16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g3a7b2309401_0_170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g3a7b2309401_0_17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a7b2309401_0_17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g3a7b2309401_0_170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g3a7b2309401_0_170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g3a7b2309401_0_17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b2309401_0_17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7b2309401_0_1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g3a7b2309401_0_17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g3a7b2309401_0_1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a7b2309401_0_1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a7b2309401_0_1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7b2309401_0_10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g3a7b2309401_0_10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a7b2309401_0_10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etf.com/QQQ" TargetMode="External"/><Relationship Id="rId4" Type="http://schemas.openxmlformats.org/officeDocument/2006/relationships/image" Target="../media/image7.gif"/><Relationship Id="rId5" Type="http://schemas.openxmlformats.org/officeDocument/2006/relationships/image" Target="../media/image6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Fall2025-QuantitativeFinance/QuantFinFinal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Quantitative Finance Final Project – QQQ Momentum Strategy</a:t>
            </a:r>
            <a:endParaRPr/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0" y="2386733"/>
            <a:ext cx="4999500" cy="3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ECO 43000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Professor: John Droescher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Student: Riya Dcosta, Serenity Sheppard, Reina Osorio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https://www.etf.com/QQQ</a:t>
            </a:r>
            <a:r>
              <a:rPr lang="en-US"/>
              <a:t>  </a:t>
            </a:r>
            <a:endParaRPr/>
          </a:p>
        </p:txBody>
      </p:sp>
      <p:pic>
        <p:nvPicPr>
          <p:cNvPr descr="a man sitting in front of a computer with the word nasdaq on it (Provided by Tenor)" id="94" name="Google Shape;9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250" y="1476250"/>
            <a:ext cx="3333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anda bear is on a green screen next to a sign that says nasdaq (Provided by Tenor)" id="95" name="Google Shape;9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8550" y="4868625"/>
            <a:ext cx="5143275" cy="19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457200" y="274650"/>
            <a:ext cx="642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ETF Used: QQQ (Nasdaq-100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Strategy: Momentum-based long/short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portfolio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Factors: 1M, 3M, 6M, 12M returns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Tools: Python, Pandas, yfinance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&amp; Methodology</a:t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457201" y="169261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Source: Yahoo Finance (via yfinance)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Universe: All QQQ components (102 stocks)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Period: 5 Years of historical data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Calculations: Momentum factors → Z-scores → Long/Short basket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Momentum Factors – Barry Cox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9975"/>
            <a:ext cx="9144000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1 – Asset Momentum Factors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4888"/>
            <a:ext cx="8839208" cy="378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Z-Scores &amp; Total Momentum Score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9571"/>
            <a:ext cx="9144002" cy="3918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&amp; Short Portfolio Construction</a:t>
            </a:r>
            <a:endParaRPr/>
          </a:p>
        </p:txBody>
      </p:sp>
      <p:graphicFrame>
        <p:nvGraphicFramePr>
          <p:cNvPr id="134" name="Google Shape;134;p7"/>
          <p:cNvGraphicFramePr/>
          <p:nvPr/>
        </p:nvGraphicFramePr>
        <p:xfrm>
          <a:off x="703050" y="153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{AA699EBB-BE92-4DA2-8275-5C63B3D51C1A}</a:tableStyleId>
              </a:tblPr>
              <a:tblGrid>
                <a:gridCol w="2579300"/>
                <a:gridCol w="2579300"/>
                <a:gridCol w="2579300"/>
              </a:tblGrid>
              <a:tr h="589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lt1"/>
                          </a:solidFill>
                        </a:rPr>
                        <a:t>Date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lt1"/>
                          </a:solidFill>
                        </a:rPr>
                        <a:t>Long Basket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chemeClr val="lt1"/>
                          </a:solidFill>
                        </a:rPr>
                        <a:t>Short Basket</a:t>
                      </a:r>
                      <a:endParaRPr b="1" sz="1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1207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Oct 31, 2025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MU, AMD, WBD, PLTR, INTC, APP, LRCX, SHOP, AVGO, GOOGL, GOOG, KLAC, ASML, TSLA, AMAT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LIN, TMUS, ADP, SNPS, PAYX, CTAS, ROP, CMCSA, LULU, TTD, VRSK, CSGP, DXCM, MSTR, CHTR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Backtest – Monthly Returns</a:t>
            </a:r>
            <a:endParaRPr/>
          </a:p>
        </p:txBody>
      </p:sp>
      <p:pic>
        <p:nvPicPr>
          <p:cNvPr id="140" name="Google Shape;140;p8" title="chart1_monthly_portfolio_vs_et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625" y="1249950"/>
            <a:ext cx="7798748" cy="3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 txBox="1"/>
          <p:nvPr/>
        </p:nvSpPr>
        <p:spPr>
          <a:xfrm>
            <a:off x="1240850" y="5098875"/>
            <a:ext cx="65244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➢"/>
            </a:pPr>
            <a:r>
              <a:rPr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Green bars = months our  strategy made money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➢"/>
            </a:pPr>
            <a:r>
              <a:rPr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Red bars = months our strategy lost money  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ato"/>
              <a:buChar char="➢"/>
            </a:pPr>
            <a:r>
              <a:rPr lang="en-US" sz="16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Blue line = QQQ benchmark performance</a:t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Backtest – Long vs Short vs QQQ</a:t>
            </a:r>
            <a:endParaRPr/>
          </a:p>
        </p:txBody>
      </p:sp>
      <p:pic>
        <p:nvPicPr>
          <p:cNvPr id="147" name="Google Shape;147;p9" title="chart2_long_short_vs_et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725" y="1417650"/>
            <a:ext cx="8637952" cy="37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9"/>
          <p:cNvSpPr txBox="1"/>
          <p:nvPr/>
        </p:nvSpPr>
        <p:spPr>
          <a:xfrm>
            <a:off x="941550" y="5381075"/>
            <a:ext cx="70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Green line = our long basket (stocks we bought)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Red line = our short basket (stocks we bet against)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Blue dashed line = QQQ benchmark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Long basket was pretty volatile - big swings up and down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Short basket also moved a lot - sometimes gained when it should have lost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Backtest – Cumulative Returns</a:t>
            </a:r>
            <a:endParaRPr/>
          </a:p>
        </p:txBody>
      </p:sp>
      <p:pic>
        <p:nvPicPr>
          <p:cNvPr id="154" name="Google Shape;154;p10" title="chart3_cumulative_retur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150" y="1305176"/>
            <a:ext cx="7683702" cy="3342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0"/>
          <p:cNvSpPr txBox="1"/>
          <p:nvPr/>
        </p:nvSpPr>
        <p:spPr>
          <a:xfrm>
            <a:off x="925125" y="5052625"/>
            <a:ext cx="70125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 $1 would be  invested on this strategy, here's what happened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Green line (our portfolio): dropped to around $0.50, ended at $0.90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Blue dashed line (QQQ): grew from $1 to over $2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Our strategy LOST about 9% over 5 years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QQQ GAINED over 100% in the same period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Summary (Table 2)</a:t>
            </a:r>
            <a:endParaRPr/>
          </a:p>
        </p:txBody>
      </p:sp>
      <p:graphicFrame>
        <p:nvGraphicFramePr>
          <p:cNvPr id="161" name="Google Shape;161;p11"/>
          <p:cNvGraphicFramePr/>
          <p:nvPr/>
        </p:nvGraphicFramePr>
        <p:xfrm>
          <a:off x="1220775" y="174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{AA699EBB-BE92-4DA2-8275-5C63B3D51C1A}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2"/>
                          </a:solidFill>
                        </a:rPr>
                        <a:t>Metric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2"/>
                          </a:solidFill>
                        </a:rPr>
                        <a:t>Portfolio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>
                          <a:solidFill>
                            <a:schemeClr val="lt2"/>
                          </a:solidFill>
                        </a:rPr>
                        <a:t>QQQ Benchmark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Total Return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-8.65%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102.60%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Annualized Return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2.07%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17.93%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Annualized Volatility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27.99%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19.64%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Sharpe Ratio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Max Drawdown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-52.47%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-32.58%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2" name="Google Shape;162;p11"/>
          <p:cNvSpPr txBox="1"/>
          <p:nvPr/>
        </p:nvSpPr>
        <p:spPr>
          <a:xfrm>
            <a:off x="810175" y="4461425"/>
            <a:ext cx="6930300" cy="18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➢"/>
            </a:pPr>
            <a:r>
              <a:rPr lang="en-US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Our strategy lost 8.65% over 5 years 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➢"/>
            </a:pPr>
            <a:r>
              <a:rPr lang="en-US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QQQ gained 102.60% - doubled money!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➢"/>
            </a:pPr>
            <a:r>
              <a:rPr lang="en-US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Our volatility was 28% (vs QQQ's 20%) shows it was riskier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➢"/>
            </a:pPr>
            <a:r>
              <a:rPr lang="en-US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Sharpe ratio of 0.07 is not good  (QQQ's was 0.91)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Lato"/>
              <a:buChar char="➢"/>
            </a:pPr>
            <a:r>
              <a:rPr lang="en-US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Max drawdown of -52% means we lost half our value at the worst point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9de6aa0f_0_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Different Approaches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ab9de6aa0f_0_14" title="comparison_cumulative_retur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775" y="1417650"/>
            <a:ext cx="6693048" cy="333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ab9de6aa0f_0_14"/>
          <p:cNvSpPr txBox="1"/>
          <p:nvPr/>
        </p:nvSpPr>
        <p:spPr>
          <a:xfrm>
            <a:off x="957975" y="5052625"/>
            <a:ext cx="68811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b="1" lang="en-US" sz="1500">
                <a:solidFill>
                  <a:srgbClr val="0B5394"/>
                </a:solidFill>
                <a:latin typeface="Lato"/>
                <a:ea typeface="Lato"/>
                <a:cs typeface="Lato"/>
                <a:sym typeface="Lato"/>
              </a:rPr>
              <a:t>Original</a:t>
            </a: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Line: Long/short with multiple factors - crashed to $0.35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b="1" lang="en-US" sz="15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Strategy A</a:t>
            </a: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Line: Long-only momentum - grew to $2.25 (winner!)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b="1" lang="en-US" sz="1500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Strategy B</a:t>
            </a: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Line: Regime-switching - grew to $1.30 (decent)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Black dashed (QQQ benchmark): grew to $2.05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b9de6aa0f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Annual Returns Comparison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ab9de6aa0f_0_20"/>
          <p:cNvSpPr txBox="1"/>
          <p:nvPr>
            <p:ph idx="1" type="body"/>
          </p:nvPr>
        </p:nvSpPr>
        <p:spPr>
          <a:xfrm>
            <a:off x="457200" y="1600200"/>
            <a:ext cx="7213200" cy="253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g3ab9de6aa0f_0_20" title="comparison_annual_retur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28400"/>
            <a:ext cx="8165699" cy="2814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ab9de6aa0f_0_20"/>
          <p:cNvSpPr txBox="1"/>
          <p:nvPr/>
        </p:nvSpPr>
        <p:spPr>
          <a:xfrm>
            <a:off x="987900" y="4225900"/>
            <a:ext cx="6682500" cy="17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Original strategy (left): Lost money in 4 out of 5 years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Strategy A (middle): Made money in 4 out of 5 years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Strategy B (right): Made money in 4 out of 5 years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2024 was huge: Strategy A gained 55%, original lost money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 problem? Shorting hurt us during the 2023-2025 bull run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➢"/>
            </a:pPr>
            <a:r>
              <a:rPr lang="en-US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Solution: Remove shorts = capture more upside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b9de6aa0f_0_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Comparative Performance Analysis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3" name="Google Shape;183;g3ab9de6aa0f_0_53"/>
          <p:cNvGraphicFramePr/>
          <p:nvPr/>
        </p:nvGraphicFramePr>
        <p:xfrm>
          <a:off x="272175" y="1585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{AA699EBB-BE92-4DA2-8275-5C63B3D51C1A}</a:tableStyleId>
              </a:tblPr>
              <a:tblGrid>
                <a:gridCol w="1433275"/>
                <a:gridCol w="1433275"/>
                <a:gridCol w="1433275"/>
                <a:gridCol w="1433275"/>
                <a:gridCol w="1433275"/>
                <a:gridCol w="1433275"/>
              </a:tblGrid>
              <a:tr h="4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Strategy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Total Return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Annualized Return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Annualized Volatility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Sharpe Ratio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Max Drawdown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63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Original (Multi-Factor L/S)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-0.643147478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-0.164907358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0.25074322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-0.65767424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-0.732963947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Strategy A (Long-Only Momentum)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1.206221408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0.208176226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0.231613789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0.898807566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-0.313356675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3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Strategy B (Regime-Switching)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0.295782931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0.096055259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0.275160396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0.349088241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-0.495072325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6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QQQ ETF (Benchmark)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1.026002698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0.179301705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0.196366504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0.913097197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-0.325770182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4" name="Google Shape;184;g3ab9de6aa0f_0_53"/>
          <p:cNvSpPr txBox="1"/>
          <p:nvPr/>
        </p:nvSpPr>
        <p:spPr>
          <a:xfrm>
            <a:off x="272175" y="5518450"/>
            <a:ext cx="8599800" cy="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➢"/>
            </a:pPr>
            <a:r>
              <a:rPr lang="en-U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Original strategy CRASHED: Lost 64% total, dropped 73% at worst point - disaster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➢"/>
            </a:pPr>
            <a:r>
              <a:rPr lang="en-U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Strategy A: Made 121%, only dropped 31% max - beat the market.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➢"/>
            </a:pPr>
            <a:r>
              <a:rPr lang="en-U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Strategy B was middle-ground: Made 30%, but dropped 50% at one point - risky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➢"/>
            </a:pPr>
            <a:r>
              <a:rPr lang="en-U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Risk-adjusted scores: Strategy A (0.90) nearly matched QQQ (0.91), original was NEGATIVE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➢"/>
            </a:pPr>
            <a:r>
              <a:rPr lang="en-U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U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Strategy A</a:t>
            </a:r>
            <a:r>
              <a:rPr lang="en-US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had best returns AND lowest risk - dominated everything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37084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 long/short beat QQQ?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 - we lost 9% while QQQ gained 103%.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 long basket strong?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Mixed - volatile and unpredictable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Did shorts drag us down?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Yes. It outperformance in the rising markets.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084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regime impact: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2021-2025 was mostly went up which was bad for strategies that bet against stocks,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lesson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Momentum works, but shorting doesn't work in rising markets.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Strategy A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(long-only) proved momentum is real but just needed better execution.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96" name="Google Shape;19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38608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QQQ gave us exactly what we needed: Enough stocks (100+) to properly test momentum strategies.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z-scores and rankings correctly spotted winning vs losing stocks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Long/short approach didn't isolate profits like we hoped: Betting against stocks killed returns when markets rose.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momentum itself is VERY real: Our second try (only buying winners) made 125% and beat the market.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➢"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Right analysis + wrong timing/execution = poor results. Adapt your approach to current conditions.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Code Used</a:t>
            </a:r>
            <a:endParaRPr/>
          </a:p>
        </p:txBody>
      </p:sp>
      <p:sp>
        <p:nvSpPr>
          <p:cNvPr id="202" name="Google Shape;202;p14"/>
          <p:cNvSpPr txBox="1"/>
          <p:nvPr>
            <p:ph idx="1" type="body"/>
          </p:nvPr>
        </p:nvSpPr>
        <p:spPr>
          <a:xfrm>
            <a:off x="1576000" y="1993300"/>
            <a:ext cx="6154800" cy="19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1200"/>
              </a:spcAft>
              <a:buNone/>
            </a:pP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Link to GitHub python scripts and charts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